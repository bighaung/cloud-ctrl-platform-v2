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9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0" y="731520"/>
            <a:ext cx="2194560" cy="2194560"/>
          </a:xfrm>
          <a:prstGeom prst="ellipse">
            <a:avLst/>
          </a:prstGeom>
          <a:solidFill>
            <a:srgbClr val="FF8C00">
              <a:alpha val="10000"/>
            </a:srgbClr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0" y="1371600"/>
            <a:ext cx="1645920" cy="1645920"/>
          </a:xfrm>
          <a:prstGeom prst="ellipse">
            <a:avLst/>
          </a:prstGeom>
          <a:solidFill>
            <a:srgbClr val="00C8F0">
              <a:alpha val="12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400" kern="0" dirty="0">
                <a:solidFill>
                  <a:srgbClr val="FFFFFF"/>
                </a:solidFill>
              </a:rPr>
              <a:t>多雲帳號管理平台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200" kern="0" dirty="0">
                <a:solidFill>
                  <a:srgbClr val="00C8F0"/>
                </a:solidFill>
              </a:rPr>
              <a:t>Multi-Cloud Account Control Platform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0" y="3017520"/>
            <a:ext cx="2743200" cy="18288"/>
          </a:xfrm>
          <a:prstGeom prst="rect">
            <a:avLst/>
          </a:prstGeom>
          <a:solidFill>
            <a:srgbClr val="2A3A58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320040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FF8C00">
              <a:alpha val="25000"/>
            </a:srgbClr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3200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00"/>
                </a:solidFill>
              </a:rPr>
              <a:t>阿里雲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31920" y="320040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00C8F0">
              <a:alpha val="25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3200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F0"/>
                </a:solidFill>
              </a:rPr>
              <a:t>騰訊雲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77840" y="320040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3200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自研平台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080A8"/>
                </a:solidFill>
              </a:rPr>
              <a:t>2026 年 6 月　｜　VitoHuang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9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1188720" cy="283464"/>
          </a:xfrm>
          <a:prstGeom prst="roundRect">
            <a:avLst>
              <a:gd name="adj" fmla="val 25806"/>
            </a:avLst>
          </a:prstGeom>
          <a:solidFill>
            <a:srgbClr val="FF8C00">
              <a:alpha val="30000"/>
            </a:srgbClr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C00"/>
                </a:solidFill>
              </a:rPr>
              <a:t>背景與需求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594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為什麼需要這個平台？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" y="1325880"/>
            <a:ext cx="4023360" cy="713232"/>
          </a:xfrm>
          <a:prstGeom prst="roundRect">
            <a:avLst>
              <a:gd name="adj" fmla="val 15385"/>
            </a:avLst>
          </a:prstGeom>
          <a:solidFill>
            <a:srgbClr val="1B2236"/>
          </a:solidFill>
          <a:ln w="12700">
            <a:solidFill>
              <a:srgbClr val="2A3A58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325880"/>
            <a:ext cx="45720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99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帳號分散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673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D0"/>
                </a:solidFill>
              </a:rPr>
              <a:t>多個阿里雲、騰訊雲主帳號，沒有統一視圖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2148840"/>
            <a:ext cx="4023360" cy="713232"/>
          </a:xfrm>
          <a:prstGeom prst="roundRect">
            <a:avLst>
              <a:gd name="adj" fmla="val 15385"/>
            </a:avLst>
          </a:prstGeom>
          <a:solidFill>
            <a:srgbClr val="1B2236"/>
          </a:solidFill>
          <a:ln w="12700">
            <a:solidFill>
              <a:srgbClr val="2A3A58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2148840"/>
            <a:ext cx="45720" cy="71323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221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B308"/>
                </a:solidFill>
              </a:rPr>
              <a:t>到期失控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2496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D0"/>
                </a:solidFill>
              </a:rPr>
              <a:t>ECS / RDS 到期日各處查，容易漏掉導致中斷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2971800"/>
            <a:ext cx="4023360" cy="713232"/>
          </a:xfrm>
          <a:prstGeom prst="roundRect">
            <a:avLst>
              <a:gd name="adj" fmla="val 15385"/>
            </a:avLst>
          </a:prstGeom>
          <a:solidFill>
            <a:srgbClr val="1B2236"/>
          </a:solidFill>
          <a:ln w="12700">
            <a:solidFill>
              <a:srgbClr val="2A3A58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" y="2971800"/>
            <a:ext cx="45720" cy="713232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044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00"/>
                </a:solidFill>
              </a:rPr>
              <a:t>費用不透明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3319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D0"/>
                </a:solidFill>
              </a:rPr>
              <a:t>餘額、可開票金額要分別登入每個帳號查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" y="3794760"/>
            <a:ext cx="4023360" cy="713232"/>
          </a:xfrm>
          <a:prstGeom prst="roundRect">
            <a:avLst>
              <a:gd name="adj" fmla="val 15385"/>
            </a:avLst>
          </a:prstGeom>
          <a:solidFill>
            <a:srgbClr val="1B2236"/>
          </a:solidFill>
          <a:ln w="12700">
            <a:solidFill>
              <a:srgbClr val="2A3A58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3794760"/>
            <a:ext cx="45720" cy="7132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8679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安全盲點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" y="4142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D0"/>
                </a:solidFill>
              </a:rPr>
              <a:t>告警散落各處，無法第一時間彙總預警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73168" y="1325880"/>
            <a:ext cx="4041648" cy="3273552"/>
          </a:xfrm>
          <a:prstGeom prst="roundRect">
            <a:avLst>
              <a:gd name="adj" fmla="val 3352"/>
            </a:avLst>
          </a:prstGeom>
          <a:solidFill>
            <a:srgbClr val="1B2236"/>
          </a:solidFill>
          <a:ln w="12700">
            <a:solidFill>
              <a:srgbClr val="00C8F0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56048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8F0"/>
                </a:solidFill>
              </a:rPr>
              <a:t>解決方案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56048" y="19202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-&gt;  統一 Dashboard，多帳號一覽無遺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56048" y="23591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-&gt;  到期總覽預設優先顯示，&lt;=30 天高亮提醒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956048" y="27980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4D0"/>
                </a:solidFill>
              </a:rPr>
              <a:t>-&gt;  帳戶餘額 + 可開票金額即時顯示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956048" y="32369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4D0"/>
                </a:solidFill>
              </a:rPr>
              <a:t>-&gt;  安全告警彙總，upsert 防重複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56048" y="3675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4D0"/>
                </a:solidFill>
              </a:rPr>
              <a:t>-&gt;  RBAC 角色管控 + JWT Session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956048" y="4114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4D0"/>
                </a:solidFill>
              </a:rPr>
              <a:t>-&gt;  Docker Compose 一鍵部署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9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1042416" cy="283464"/>
          </a:xfrm>
          <a:prstGeom prst="roundRect">
            <a:avLst>
              <a:gd name="adj" fmla="val 25806"/>
            </a:avLst>
          </a:prstGeom>
          <a:solidFill>
            <a:srgbClr val="00C8F0">
              <a:alpha val="30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10424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F0"/>
                </a:solidFill>
              </a:rPr>
              <a:t>實際介面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594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Dashboard 操作畫面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" y="1261872"/>
            <a:ext cx="8412480" cy="3657600"/>
          </a:xfrm>
          <a:prstGeom prst="roundRect">
            <a:avLst>
              <a:gd name="adj" fmla="val 2500"/>
            </a:avLst>
          </a:prstGeom>
          <a:solidFill>
            <a:srgbClr val="0D1320"/>
          </a:solidFill>
          <a:ln w="12700">
            <a:solidFill>
              <a:srgbClr val="2A3A58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261872"/>
            <a:ext cx="8412480" cy="347472"/>
          </a:xfrm>
          <a:prstGeom prst="rect">
            <a:avLst/>
          </a:prstGeom>
          <a:solidFill>
            <a:srgbClr val="1B2236"/>
          </a:solidFill>
          <a:ln w="6350">
            <a:solidFill>
              <a:srgbClr val="2A3A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325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多雲帳號總覽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24328" y="1335024"/>
            <a:ext cx="1115568" cy="219456"/>
          </a:xfrm>
          <a:prstGeom prst="roundRect">
            <a:avLst>
              <a:gd name="adj" fmla="val 20833"/>
            </a:avLst>
          </a:prstGeom>
          <a:solidFill>
            <a:srgbClr val="273252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24328" y="1335024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B4D0"/>
                </a:solidFill>
              </a:rPr>
              <a:t>帳號  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31336" y="1335024"/>
            <a:ext cx="1115568" cy="219456"/>
          </a:xfrm>
          <a:prstGeom prst="roundRect">
            <a:avLst>
              <a:gd name="adj" fmla="val 20833"/>
            </a:avLst>
          </a:prstGeom>
          <a:solidFill>
            <a:srgbClr val="273252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31336" y="1335024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B4D0"/>
                </a:solidFill>
              </a:rPr>
              <a:t>服務  153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38344" y="1335024"/>
            <a:ext cx="1115568" cy="219456"/>
          </a:xfrm>
          <a:prstGeom prst="roundRect">
            <a:avLst>
              <a:gd name="adj" fmla="val 20833"/>
            </a:avLst>
          </a:prstGeom>
          <a:solidFill>
            <a:srgbClr val="273252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38344" y="1335024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30天到期 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76288" y="1344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80A8"/>
                </a:solidFill>
              </a:rPr>
              <a:t>重新整理   管理帳號   登出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5488" y="1664208"/>
            <a:ext cx="8229600" cy="292608"/>
          </a:xfrm>
          <a:prstGeom prst="rect">
            <a:avLst/>
          </a:prstGeom>
          <a:solidFill>
            <a:srgbClr val="1A1208"/>
          </a:solidFill>
          <a:ln w="6350">
            <a:solidFill>
              <a:srgbClr val="EAB30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16642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B308"/>
                </a:solidFill>
              </a:rPr>
              <a:t>  即將到期 1 項     雲磁盤 CBS   24 天後到期  ·  騰訊雲-上海研發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20391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8C00"/>
                </a:solidFill>
              </a:rPr>
              <a:t>● 阿里雲帳號    2 個主帳號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" y="2258568"/>
            <a:ext cx="8229600" cy="603504"/>
          </a:xfrm>
          <a:prstGeom prst="roundRect">
            <a:avLst>
              <a:gd name="adj" fmla="val 10606"/>
            </a:avLst>
          </a:prstGeom>
          <a:solidFill>
            <a:srgbClr val="212B42"/>
          </a:solidFill>
          <a:ln w="6350">
            <a:solidFill>
              <a:srgbClr val="2A3A5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2258568"/>
            <a:ext cx="45720" cy="603504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" y="23225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via 威盛電子上海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2648" y="25786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80A8"/>
                </a:solidFill>
              </a:rPr>
              <a:t>阿里雲 · 1912210008968062 · cn-shanghai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87568" y="2322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80A8"/>
                </a:solidFill>
              </a:rPr>
              <a:t>帳戶餘額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687568" y="2532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¥1.67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59168" y="232257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80A8"/>
                </a:solidFill>
              </a:rPr>
              <a:t>可開票金額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059168" y="25328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8B4D0"/>
                </a:solidFill>
              </a:rPr>
              <a:t>¥144.34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75488" y="2916936"/>
            <a:ext cx="8229600" cy="603504"/>
          </a:xfrm>
          <a:prstGeom prst="roundRect">
            <a:avLst>
              <a:gd name="adj" fmla="val 10606"/>
            </a:avLst>
          </a:prstGeom>
          <a:solidFill>
            <a:srgbClr val="212B42"/>
          </a:solidFill>
          <a:ln w="6350">
            <a:solidFill>
              <a:srgbClr val="2A3A5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" y="2916936"/>
            <a:ext cx="45720" cy="603504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" y="298094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canw 嘉朗酒業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2648" y="323697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80A8"/>
                </a:solidFill>
              </a:rPr>
              <a:t>阿里雲 · 1039718494325483 · cn-shanghai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687568" y="298094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80A8"/>
                </a:solidFill>
              </a:rPr>
              <a:t>帳戶餘額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687568" y="31912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¥1,246.05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59168" y="29809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80A8"/>
                </a:solidFill>
              </a:rPr>
              <a:t>可開票金額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059168" y="31912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8B4D0"/>
                </a:solidFill>
              </a:rPr>
              <a:t>¥322.81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8640" y="37398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0"/>
                </a:solidFill>
              </a:rPr>
              <a:t>● 騰訊雲帳號    1 個主帳號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" y="3959352"/>
            <a:ext cx="8229600" cy="694944"/>
          </a:xfrm>
          <a:prstGeom prst="roundRect">
            <a:avLst>
              <a:gd name="adj" fmla="val 9211"/>
            </a:avLst>
          </a:prstGeom>
          <a:solidFill>
            <a:srgbClr val="212B42"/>
          </a:solidFill>
          <a:ln w="6350">
            <a:solidFill>
              <a:srgbClr val="2A3A5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" y="3959352"/>
            <a:ext cx="45720" cy="694944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" y="402336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騰訊雲-上海研發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2648" y="427939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80A8"/>
                </a:solidFill>
              </a:rPr>
              <a:t>騰訊雲 · 100029423756 · ap-shanghai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12648" y="4453128"/>
            <a:ext cx="1463040" cy="164592"/>
          </a:xfrm>
          <a:prstGeom prst="roundRect">
            <a:avLst>
              <a:gd name="adj" fmla="val 27778"/>
            </a:avLst>
          </a:prstGeom>
          <a:solidFill>
            <a:srgbClr val="F97316">
              <a:alpha val="30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2648" y="44531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97316"/>
                </a:solidFill>
              </a:rPr>
              <a:t>11 項 30 天內到期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687568" y="40233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80A8"/>
                </a:solidFill>
              </a:rPr>
              <a:t>帳戶餘額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687568" y="42336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¥7,135.38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059168" y="40233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80A8"/>
                </a:solidFill>
              </a:rPr>
              <a:t>可開票金額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059168" y="42336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8B4D0"/>
                </a:solidFill>
              </a:rPr>
              <a:t>¥3,205.23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75488" y="4608576"/>
            <a:ext cx="8229600" cy="274320"/>
          </a:xfrm>
          <a:prstGeom prst="rect">
            <a:avLst/>
          </a:prstGeom>
          <a:solidFill>
            <a:srgbClr val="273252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2648" y="46634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80A8"/>
                </a:solidFill>
              </a:rPr>
              <a:t>管理帳號數：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618488" y="466344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8F0"/>
                </a:solidFill>
              </a:rPr>
              <a:t>3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624328" y="46634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80A8"/>
                </a:solidFill>
              </a:rPr>
              <a:t>總帳戶餘額：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630168" y="466344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¥8,383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636008" y="46634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80A8"/>
                </a:solidFill>
              </a:rPr>
              <a:t>可開票合計：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641848" y="466344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B4D0"/>
                </a:solidFill>
              </a:rPr>
              <a:t>¥3,672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647688" y="46634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80A8"/>
                </a:solidFill>
              </a:rPr>
              <a:t>30天到期：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653528" y="466344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11 項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9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1042416" cy="283464"/>
          </a:xfrm>
          <a:prstGeom prst="roundRect">
            <a:avLst>
              <a:gd name="adj" fmla="val 25806"/>
            </a:avLst>
          </a:prstGeom>
          <a:solidFill>
            <a:srgbClr val="A78BFA">
              <a:alpha val="3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10424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技術架構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594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系統技術棧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" y="1325880"/>
            <a:ext cx="1536192" cy="3200400"/>
          </a:xfrm>
          <a:prstGeom prst="roundRect">
            <a:avLst>
              <a:gd name="adj" fmla="val 5952"/>
            </a:avLst>
          </a:prstGeom>
          <a:solidFill>
            <a:srgbClr val="212B42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325880"/>
            <a:ext cx="1536192" cy="502920"/>
          </a:xfrm>
          <a:prstGeom prst="roundRect">
            <a:avLst>
              <a:gd name="adj" fmla="val 18182"/>
            </a:avLst>
          </a:prstGeom>
          <a:solidFill>
            <a:srgbClr val="60A5FA">
              <a:alpha val="7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34416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前端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92024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0A5FA"/>
                </a:solidFill>
              </a:rPr>
              <a:t>HTML / CSS / Vanilla JS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13898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B4D0"/>
                </a:solidFill>
              </a:rPr>
              <a:t>Dashboard · 帳號管理介面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75688" y="1325880"/>
            <a:ext cx="1536192" cy="3200400"/>
          </a:xfrm>
          <a:prstGeom prst="roundRect">
            <a:avLst>
              <a:gd name="adj" fmla="val 5952"/>
            </a:avLst>
          </a:prstGeom>
          <a:solidFill>
            <a:srgbClr val="212B42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75688" y="1325880"/>
            <a:ext cx="1536192" cy="502920"/>
          </a:xfrm>
          <a:prstGeom prst="roundRect">
            <a:avLst>
              <a:gd name="adj" fmla="val 18182"/>
            </a:avLst>
          </a:prstGeom>
          <a:solidFill>
            <a:srgbClr val="A78BFA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75688" y="134416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後端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67128" y="192024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78BFA"/>
                </a:solidFill>
              </a:rPr>
              <a:t>Node.js + Express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148840" y="2514600"/>
            <a:ext cx="13898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B4D0"/>
                </a:solidFill>
              </a:rPr>
              <a:t>REST API · JWT · RBAC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67328" y="1325880"/>
            <a:ext cx="1536192" cy="3200400"/>
          </a:xfrm>
          <a:prstGeom prst="roundRect">
            <a:avLst>
              <a:gd name="adj" fmla="val 5952"/>
            </a:avLst>
          </a:prstGeom>
          <a:solidFill>
            <a:srgbClr val="212B42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67328" y="1325880"/>
            <a:ext cx="1536192" cy="502920"/>
          </a:xfrm>
          <a:prstGeom prst="roundRect">
            <a:avLst>
              <a:gd name="adj" fmla="val 18182"/>
            </a:avLst>
          </a:prstGeom>
          <a:solidFill>
            <a:srgbClr val="34D399">
              <a:alpha val="7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134416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資料庫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58768" y="192024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D399"/>
                </a:solidFill>
              </a:rPr>
              <a:t>PostgreSQL + Prisma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40480" y="2514600"/>
            <a:ext cx="13898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B4D0"/>
                </a:solidFill>
              </a:rPr>
              <a:t>帳號 · 快照 · 告警 · 審計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58968" y="1325880"/>
            <a:ext cx="1536192" cy="3200400"/>
          </a:xfrm>
          <a:prstGeom prst="roundRect">
            <a:avLst>
              <a:gd name="adj" fmla="val 5952"/>
            </a:avLst>
          </a:prstGeom>
          <a:solidFill>
            <a:srgbClr val="212B42"/>
          </a:solidFill>
          <a:ln w="12700">
            <a:solidFill>
              <a:srgbClr val="EAB308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58968" y="1325880"/>
            <a:ext cx="1536192" cy="502920"/>
          </a:xfrm>
          <a:prstGeom prst="roundRect">
            <a:avLst>
              <a:gd name="adj" fmla="val 18182"/>
            </a:avLst>
          </a:prstGeom>
          <a:solidFill>
            <a:srgbClr val="EAB308">
              <a:alpha val="70000"/>
            </a:srgbClr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58968" y="134416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快取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50408" y="192024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B308"/>
                </a:solidFill>
              </a:rPr>
              <a:t>Redis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532120" y="2514600"/>
            <a:ext cx="13898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B4D0"/>
                </a:solidFill>
              </a:rPr>
              <a:t>API 快取 · Session · STS Token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150608" y="1325880"/>
            <a:ext cx="1536192" cy="3200400"/>
          </a:xfrm>
          <a:prstGeom prst="roundRect">
            <a:avLst>
              <a:gd name="adj" fmla="val 5952"/>
            </a:avLst>
          </a:prstGeom>
          <a:solidFill>
            <a:srgbClr val="212B42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50608" y="1325880"/>
            <a:ext cx="1536192" cy="502920"/>
          </a:xfrm>
          <a:prstGeom prst="roundRect">
            <a:avLst>
              <a:gd name="adj" fmla="val 18182"/>
            </a:avLst>
          </a:prstGeom>
          <a:solidFill>
            <a:srgbClr val="F97316">
              <a:alpha val="7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50608" y="134416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部署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42048" y="192024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7316"/>
                </a:solidFill>
              </a:rPr>
              <a:t>Docker Compose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223760" y="2514600"/>
            <a:ext cx="13898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B4D0"/>
                </a:solidFill>
              </a:rPr>
              <a:t>本地 / 阿里雲 ECS 通用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84048" y="4617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080A8"/>
                </a:solidFill>
              </a:rPr>
              <a:t>←  前後端 REST API  →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9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1042416" cy="283464"/>
          </a:xfrm>
          <a:prstGeom prst="roundRect">
            <a:avLst>
              <a:gd name="adj" fmla="val 25806"/>
            </a:avLst>
          </a:prstGeom>
          <a:solidFill>
            <a:srgbClr val="22C55E">
              <a:alpha val="3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10424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核心功能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594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四大功能模組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" y="1325880"/>
            <a:ext cx="4160520" cy="1627632"/>
          </a:xfrm>
          <a:prstGeom prst="roundRect">
            <a:avLst>
              <a:gd name="adj" fmla="val 6742"/>
            </a:avLst>
          </a:prstGeom>
          <a:solidFill>
            <a:srgbClr val="1B2236"/>
          </a:solidFill>
          <a:ln w="12700">
            <a:solidFill>
              <a:srgbClr val="00C8F0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325880"/>
            <a:ext cx="4160520" cy="384048"/>
          </a:xfrm>
          <a:prstGeom prst="roundRect">
            <a:avLst>
              <a:gd name="adj" fmla="val 28571"/>
            </a:avLst>
          </a:prstGeom>
          <a:solidFill>
            <a:srgbClr val="00C8F0">
              <a:alpha val="25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807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資源監控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2648" y="182880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</a:rPr>
              <a:t>·  ECS / CVM 雲主機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12648" y="207568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4D0"/>
                </a:solidFill>
              </a:rPr>
              <a:t>·  RDS / CDB 資料庫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2648" y="232257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4D0"/>
                </a:solidFill>
              </a:rPr>
              <a:t>·  OSS / COS 對象存儲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" y="256946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4D0"/>
                </a:solidFill>
              </a:rPr>
              <a:t>·  Redis / CBS / EIP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91456" y="1325880"/>
            <a:ext cx="4160520" cy="1627632"/>
          </a:xfrm>
          <a:prstGeom prst="roundRect">
            <a:avLst>
              <a:gd name="adj" fmla="val 6742"/>
            </a:avLst>
          </a:prstGeom>
          <a:solidFill>
            <a:srgbClr val="1B2236"/>
          </a:solidFill>
          <a:ln w="12700">
            <a:solidFill>
              <a:srgbClr val="EAB308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91456" y="1325880"/>
            <a:ext cx="4160520" cy="384048"/>
          </a:xfrm>
          <a:prstGeom prst="roundRect">
            <a:avLst>
              <a:gd name="adj" fmla="val 28571"/>
            </a:avLst>
          </a:prstGeom>
          <a:solidFill>
            <a:srgbClr val="EAB308">
              <a:alpha val="25000"/>
            </a:srgbClr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13807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到期管理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0056" y="182880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</a:rPr>
              <a:t>·  &lt;=7 天：紅色緊急提示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0056" y="207568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4D0"/>
                </a:solidFill>
              </a:rPr>
              <a:t>·  &lt;=30 天：橙色高亮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0056" y="232257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4D0"/>
                </a:solidFill>
              </a:rPr>
              <a:t>·  全域到期橫幅 (Banner)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0056" y="256946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4D0"/>
                </a:solidFill>
              </a:rPr>
              <a:t>·  超過 60 天自動過濾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84048" y="3108960"/>
            <a:ext cx="4160520" cy="1627632"/>
          </a:xfrm>
          <a:prstGeom prst="roundRect">
            <a:avLst>
              <a:gd name="adj" fmla="val 6742"/>
            </a:avLst>
          </a:prstGeom>
          <a:solidFill>
            <a:srgbClr val="1B2236"/>
          </a:solidFill>
          <a:ln w="12700">
            <a:solidFill>
              <a:srgbClr val="FF8C00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3108960"/>
            <a:ext cx="4160520" cy="384048"/>
          </a:xfrm>
          <a:prstGeom prst="roundRect">
            <a:avLst>
              <a:gd name="adj" fmla="val 28571"/>
            </a:avLst>
          </a:prstGeom>
          <a:solidFill>
            <a:srgbClr val="FF8C00">
              <a:alpha val="25000"/>
            </a:srgbClr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1638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費用帳單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2648" y="361188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</a:rPr>
              <a:t>·  帳戶餘額即時顯示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2648" y="385876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4D0"/>
                </a:solidFill>
              </a:rPr>
              <a:t>·  可開票金額（開票 API）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2648" y="410565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4D0"/>
                </a:solidFill>
              </a:rPr>
              <a:t>·  月費帳單超額預警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2648" y="435254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4D0"/>
                </a:solidFill>
              </a:rPr>
              <a:t>·  阿里雲 + 騰訊雲雙源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91456" y="3108960"/>
            <a:ext cx="4160520" cy="1627632"/>
          </a:xfrm>
          <a:prstGeom prst="roundRect">
            <a:avLst>
              <a:gd name="adj" fmla="val 6742"/>
            </a:avLst>
          </a:prstGeom>
          <a:solidFill>
            <a:srgbClr val="1B2236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91456" y="3108960"/>
            <a:ext cx="4160520" cy="384048"/>
          </a:xfrm>
          <a:prstGeom prst="roundRect">
            <a:avLst>
              <a:gd name="adj" fmla="val 28571"/>
            </a:avLst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31638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安全告警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0056" y="361188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</a:rPr>
              <a:t>·  雲審計事件同步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0056" y="385876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4D0"/>
                </a:solidFill>
              </a:rPr>
              <a:t>·  告警 upsert 防重複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0056" y="410565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4D0"/>
                </a:solidFill>
              </a:rPr>
              <a:t>·  管理介面一鍵閱覽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0056" y="435254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4D0"/>
                </a:solidFill>
              </a:rPr>
              <a:t>·  RBAC 角色權限管控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9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1042416" cy="283464"/>
          </a:xfrm>
          <a:prstGeom prst="roundRect">
            <a:avLst>
              <a:gd name="adj" fmla="val 25806"/>
            </a:avLst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10424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安全設計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594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兩輪安全審查 — 全數修復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" y="1325880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EF4444">
              <a:alpha val="4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3258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Critical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" y="1673352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4D0"/>
                </a:solidFill>
              </a:rPr>
              <a:t>[OK]  resources.js — prisma.aliyunAccount → prisma.cloudAccount（防 runtime crash）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5488" y="2057400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4D0"/>
                </a:solidFill>
              </a:rPr>
              <a:t>[OK]  resources.js — 全路由加 requireRole（修 IDOR 漏洞）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048" y="2670048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F97316">
              <a:alpha val="4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6700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Medium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3017520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4D0"/>
                </a:solidFill>
              </a:rPr>
              <a:t>[OK]  middleware/auth.js — Redis fail-open（Redis 掛掉不阻斷全站）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" y="3401568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4D0"/>
                </a:solidFill>
              </a:rPr>
              <a:t>[OK]  aliyun + tencent — 預算告警改 upsert，防重複寫入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" y="3785616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4D0"/>
                </a:solidFill>
              </a:rPr>
              <a:t>[OK]  users.js — 自我降級保護；alerts.js — P2025 → 404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" y="4169664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4D0"/>
                </a:solidFill>
              </a:rPr>
              <a:t>[OK]  seed.js — production 無密碼時拒絕啟動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50992" y="1325880"/>
            <a:ext cx="3154680" cy="3547872"/>
          </a:xfrm>
          <a:prstGeom prst="roundRect">
            <a:avLst>
              <a:gd name="adj" fmla="val 3478"/>
            </a:avLst>
          </a:prstGeom>
          <a:solidFill>
            <a:srgbClr val="1B2236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33872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金鑰架構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33872" y="19385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0"/>
                </a:solidFill>
              </a:rPr>
              <a:t>JWT_SECRET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33872" y="21945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4D0"/>
                </a:solidFill>
              </a:rPr>
              <a:t>128-char hex, 登入 Token 簽發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33872" y="24871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0"/>
                </a:solidFill>
              </a:rPr>
              <a:t>ENCRYPTION_KEY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33872" y="27432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4D0"/>
                </a:solidFill>
              </a:rPr>
              <a:t>32-char, SecretKey AES-256-GCM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33872" y="30358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0"/>
                </a:solidFill>
              </a:rPr>
              <a:t>REDIS_PASS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33872" y="32918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4D0"/>
                </a:solidFill>
              </a:rPr>
              <a:t>自動生成 32-char hex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33872" y="35844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0"/>
                </a:solidFill>
              </a:rPr>
              <a:t>DB_PASS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33872" y="38404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4D0"/>
                </a:solidFill>
              </a:rPr>
              <a:t>自動生成 32-char hex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33872" y="4133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0"/>
                </a:solidFill>
              </a:rPr>
              <a:t>STS Token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33872" y="43891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4D0"/>
                </a:solidFill>
              </a:rPr>
              <a:t>阿里雲 55 分鐘自動過期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9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1188720" cy="283464"/>
          </a:xfrm>
          <a:prstGeom prst="roundRect">
            <a:avLst>
              <a:gd name="adj" fmla="val 25806"/>
            </a:avLst>
          </a:prstGeom>
          <a:solidFill>
            <a:srgbClr val="60A5FA">
              <a:alpha val="3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UI 設計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594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Dashboard 視覺演進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" y="1325880"/>
            <a:ext cx="2743200" cy="3520440"/>
          </a:xfrm>
          <a:prstGeom prst="roundRect">
            <a:avLst>
              <a:gd name="adj" fmla="val 4000"/>
            </a:avLst>
          </a:prstGeom>
          <a:solidFill>
            <a:srgbClr val="1B2236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1208" y="1444752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4447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暖科技深色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2231136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4D0"/>
                </a:solidFill>
              </a:rPr>
              <a:t>·  背景 #0b0f14，卡片 #111620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2670048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4D0"/>
                </a:solidFill>
              </a:rPr>
              <a:t>·  Amber / Sky Blue 分類色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6928" y="3108960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4D0"/>
                </a:solidFill>
              </a:rPr>
              <a:t>·  即將到期緊急橫幅首次引入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4507992"/>
            <a:ext cx="2377440" cy="256032"/>
          </a:xfrm>
          <a:prstGeom prst="roundRect">
            <a:avLst>
              <a:gd name="adj" fmla="val 21429"/>
            </a:avLst>
          </a:prstGeom>
          <a:solidFill>
            <a:srgbClr val="22C55E">
              <a:alpha val="3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45079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✓ 確立方向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10128" y="1325880"/>
            <a:ext cx="2743200" cy="3520440"/>
          </a:xfrm>
          <a:prstGeom prst="roundRect">
            <a:avLst>
              <a:gd name="adj" fmla="val 4000"/>
            </a:avLst>
          </a:prstGeom>
          <a:solidFill>
            <a:srgbClr val="1B2236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47288" y="1444752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818CF8">
              <a:alpha val="8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47288" y="14447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17830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</a:rPr>
              <a:t>淺色系（CollectUI 參考）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93008" y="2231136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4D0"/>
                </a:solidFill>
              </a:rPr>
              <a:t>·  背景 #ECEDF5 白卡 + 陰影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93008" y="2670048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4D0"/>
                </a:solidFill>
              </a:rPr>
              <a:t>·  登入頁漸層 Hero Banner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93008" y="3108960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4D0"/>
                </a:solidFill>
              </a:rPr>
              <a:t>·  用戶回饋：太亮、色差不明確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93008" y="4507992"/>
            <a:ext cx="2377440" cy="256032"/>
          </a:xfrm>
          <a:prstGeom prst="roundRect">
            <a:avLst>
              <a:gd name="adj" fmla="val 21429"/>
            </a:avLst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93008" y="45079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× 改版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36208" y="1325880"/>
            <a:ext cx="2743200" cy="3520440"/>
          </a:xfrm>
          <a:prstGeom prst="roundRect">
            <a:avLst>
              <a:gd name="adj" fmla="val 4000"/>
            </a:avLst>
          </a:prstGeom>
          <a:solidFill>
            <a:srgbClr val="1B2236"/>
          </a:solidFill>
          <a:ln w="12700">
            <a:solidFill>
              <a:srgbClr val="00C8F0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73368" y="1444752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00C8F0">
              <a:alpha val="80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14447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17830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0"/>
                </a:solidFill>
              </a:rPr>
              <a:t>深板岩（最終版）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19088" y="2231136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4D0"/>
                </a:solidFill>
              </a:rPr>
              <a:t>·  背景 #131928，卡片 #1B2236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19088" y="2670048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4D0"/>
                </a:solidFill>
              </a:rPr>
              <a:t>·  阿里雲橙 #FF8C00 vs 騰訊雲青 #00C8F0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19088" y="3108960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4D0"/>
                </a:solidFill>
              </a:rPr>
              <a:t>·  4 段狀態色梯度 + 字體全面放大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19088" y="4507992"/>
            <a:ext cx="2377440" cy="256032"/>
          </a:xfrm>
          <a:prstGeom prst="roundRect">
            <a:avLst>
              <a:gd name="adj" fmla="val 21429"/>
            </a:avLst>
          </a:prstGeom>
          <a:solidFill>
            <a:srgbClr val="22C55E">
              <a:alpha val="3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19088" y="45079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[採用]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9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1042416" cy="283464"/>
          </a:xfrm>
          <a:prstGeom prst="roundRect">
            <a:avLst>
              <a:gd name="adj" fmla="val 25806"/>
            </a:avLst>
          </a:prstGeom>
          <a:solidFill>
            <a:srgbClr val="22C55E">
              <a:alpha val="3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10424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實際數據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594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目前管理帳號總覽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" y="1325880"/>
            <a:ext cx="8412480" cy="1024128"/>
          </a:xfrm>
          <a:prstGeom prst="roundRect">
            <a:avLst>
              <a:gd name="adj" fmla="val 10714"/>
            </a:avLst>
          </a:prstGeom>
          <a:solidFill>
            <a:srgbClr val="1B2236"/>
          </a:solidFill>
          <a:ln w="12700">
            <a:solidFill>
              <a:srgbClr val="2A3A58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325880"/>
            <a:ext cx="45720" cy="1024128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356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via威盛電子上海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562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8C00"/>
                </a:solidFill>
              </a:rPr>
              <a:t>阿里雲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0" y="1417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80A8"/>
                </a:solidFill>
              </a:rPr>
              <a:t>帳戶餘額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0" y="167335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¥1.67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78040" y="14173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80A8"/>
                </a:solidFill>
              </a:rPr>
              <a:t>可開票金額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78040" y="16733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8B4D0"/>
                </a:solidFill>
              </a:rPr>
              <a:t>¥144.34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4048" y="2496312"/>
            <a:ext cx="8412480" cy="1024128"/>
          </a:xfrm>
          <a:prstGeom prst="roundRect">
            <a:avLst>
              <a:gd name="adj" fmla="val 10714"/>
            </a:avLst>
          </a:prstGeom>
          <a:solidFill>
            <a:srgbClr val="1B2236"/>
          </a:solidFill>
          <a:ln w="12700">
            <a:solidFill>
              <a:srgbClr val="2A3A58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" y="2496312"/>
            <a:ext cx="45720" cy="1024128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6060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canw嘉朗酒业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" y="30266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8C00"/>
                </a:solidFill>
              </a:rPr>
              <a:t>阿里雲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0" y="25877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80A8"/>
                </a:solidFill>
              </a:rPr>
              <a:t>帳戶餘額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0" y="284378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¥1,255.93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78040" y="25877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80A8"/>
                </a:solidFill>
              </a:rPr>
              <a:t>可開票金額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78040" y="28437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8B4D0"/>
                </a:solidFill>
              </a:rPr>
              <a:t>¥322.81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4048" y="3666744"/>
            <a:ext cx="8412480" cy="1024128"/>
          </a:xfrm>
          <a:prstGeom prst="roundRect">
            <a:avLst>
              <a:gd name="adj" fmla="val 10714"/>
            </a:avLst>
          </a:prstGeom>
          <a:solidFill>
            <a:srgbClr val="1B2236"/>
          </a:solidFill>
          <a:ln w="12700">
            <a:solidFill>
              <a:srgbClr val="2A3A58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" y="3666744"/>
            <a:ext cx="45720" cy="1024128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7764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騰訊雲-上海研發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94360" y="41970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8F0"/>
                </a:solidFill>
              </a:rPr>
              <a:t>騰訊雲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0" y="37581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80A8"/>
                </a:solidFill>
              </a:rPr>
              <a:t>帳戶餘額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0" y="401421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¥7,154.80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78040" y="37581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80A8"/>
                </a:solidFill>
              </a:rPr>
              <a:t>可開票金額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78040" y="40142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8B4D0"/>
                </a:solidFill>
              </a:rPr>
              <a:t>¥3,185.81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80560" y="4014216"/>
            <a:ext cx="1417320" cy="301752"/>
          </a:xfrm>
          <a:prstGeom prst="roundRect">
            <a:avLst>
              <a:gd name="adj" fmla="val 24242"/>
            </a:avLst>
          </a:prstGeom>
          <a:solidFill>
            <a:srgbClr val="F97316">
              <a:alpha val="3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4014216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97316"/>
                </a:solidFill>
              </a:rPr>
              <a:t>11 項 30 天內到期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84048" y="4617720"/>
            <a:ext cx="1920240" cy="347472"/>
          </a:xfrm>
          <a:prstGeom prst="roundRect">
            <a:avLst>
              <a:gd name="adj" fmla="val 31579"/>
            </a:avLst>
          </a:prstGeom>
          <a:solidFill>
            <a:srgbClr val="212B42"/>
          </a:solidFill>
          <a:ln w="12700">
            <a:solidFill>
              <a:srgbClr val="2A3A58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93776" y="46451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80A8"/>
                </a:solidFill>
              </a:rPr>
              <a:t>管理帳號數：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344168" y="461772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C8F0"/>
                </a:solidFill>
              </a:rPr>
              <a:t>3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487168" y="4617720"/>
            <a:ext cx="1920240" cy="347472"/>
          </a:xfrm>
          <a:prstGeom prst="roundRect">
            <a:avLst>
              <a:gd name="adj" fmla="val 31579"/>
            </a:avLst>
          </a:prstGeom>
          <a:solidFill>
            <a:srgbClr val="212B42"/>
          </a:solidFill>
          <a:ln w="12700">
            <a:solidFill>
              <a:srgbClr val="2A3A58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596896" y="46451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80A8"/>
                </a:solidFill>
              </a:rPr>
              <a:t>總帳戶餘額：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447288" y="461772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¥8,412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90288" y="4617720"/>
            <a:ext cx="1920240" cy="347472"/>
          </a:xfrm>
          <a:prstGeom prst="roundRect">
            <a:avLst>
              <a:gd name="adj" fmla="val 31579"/>
            </a:avLst>
          </a:prstGeom>
          <a:solidFill>
            <a:srgbClr val="212B42"/>
          </a:solidFill>
          <a:ln w="12700">
            <a:solidFill>
              <a:srgbClr val="2A3A58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700016" y="46451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80A8"/>
                </a:solidFill>
              </a:rPr>
              <a:t>可開票合計：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550408" y="461772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B4D0"/>
                </a:solidFill>
              </a:rPr>
              <a:t>¥3,652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693408" y="4617720"/>
            <a:ext cx="1920240" cy="347472"/>
          </a:xfrm>
          <a:prstGeom prst="roundRect">
            <a:avLst>
              <a:gd name="adj" fmla="val 31579"/>
            </a:avLst>
          </a:prstGeom>
          <a:solidFill>
            <a:srgbClr val="212B42"/>
          </a:solidFill>
          <a:ln w="12700">
            <a:solidFill>
              <a:srgbClr val="2A3A58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3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803136" y="46451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80A8"/>
                </a:solidFill>
              </a:rPr>
              <a:t>30 天內到期：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653528" y="461772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11 項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9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1920240" cy="283464"/>
          </a:xfrm>
          <a:prstGeom prst="roundRect">
            <a:avLst>
              <a:gd name="adj" fmla="val 25806"/>
            </a:avLst>
          </a:prstGeom>
          <a:solidFill>
            <a:srgbClr val="22C55E">
              <a:alpha val="3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2026-06-26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594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本次對話完成項目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" y="1298448"/>
            <a:ext cx="1188720" cy="256032"/>
          </a:xfrm>
          <a:prstGeom prst="roundRect">
            <a:avLst>
              <a:gd name="adj" fmla="val 25000"/>
            </a:avLst>
          </a:prstGeom>
          <a:solidFill>
            <a:srgbClr val="EF4444">
              <a:alpha val="4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2984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Bug Fix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5488" y="1591056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</a:rPr>
              <a:t>+ Aliyun availableAmount — 加入 AvailableBalance fallback，修復餘額顯示 —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5488" y="1911096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4D0"/>
                </a:solidFill>
              </a:rPr>
              <a:t>+ Tencent invoiceAmount — client.request() 呼叫 DescribeUserInvoiceAmount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048" y="2395728"/>
            <a:ext cx="1188720" cy="256032"/>
          </a:xfrm>
          <a:prstGeom prst="roundRect">
            <a:avLst>
              <a:gd name="adj" fmla="val 25000"/>
            </a:avLst>
          </a:prstGeom>
          <a:solidFill>
            <a:srgbClr val="EAB308">
              <a:alpha val="40000"/>
            </a:srgbClr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3957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B308"/>
                </a:solidFill>
              </a:rPr>
              <a:t>功能修復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2688336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</a:rPr>
              <a:t>+ 自動同步 — triggerSyncAll 401 強制登出 / 其他錯誤仍 loadData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" y="3008376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4D0"/>
                </a:solidFill>
              </a:rPr>
              <a:t>+ 到期天數計算 — TODAY 常數改為 daysUntil() 内 new Date()（即時）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4048" y="3493008"/>
            <a:ext cx="1188720" cy="256032"/>
          </a:xfrm>
          <a:prstGeom prst="roundRect">
            <a:avLst>
              <a:gd name="adj" fmla="val 25000"/>
            </a:avLst>
          </a:prstGeom>
          <a:solidFill>
            <a:srgbClr val="00C8F0">
              <a:alpha val="40000"/>
            </a:srgbClr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34930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F0"/>
                </a:solidFill>
              </a:rPr>
              <a:t>新功能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" y="3785616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</a:rPr>
              <a:t>+ 閒置 12 小時自動登出（監聽 5 種事件，每分鐘靜默檢查）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" y="4105656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4D0"/>
                </a:solidFill>
              </a:rPr>
              <a:t>+ JWT_EXPIRES_IN 8h → 24h，配合閒置登出避免提前 401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84048" y="4590288"/>
            <a:ext cx="1188720" cy="256032"/>
          </a:xfrm>
          <a:prstGeom prst="roundRect">
            <a:avLst>
              <a:gd name="adj" fmla="val 25000"/>
            </a:avLst>
          </a:prstGeom>
          <a:solidFill>
            <a:srgbClr val="A78BFA">
              <a:alpha val="4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45902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UI 修正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" y="4882896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</a:rPr>
              <a:t>+ 到期 badge 移至左側 acct-info，右側欄位三帳號完全對齊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4048" y="5367528"/>
            <a:ext cx="1188720" cy="256032"/>
          </a:xfrm>
          <a:prstGeom prst="roundRect">
            <a:avLst>
              <a:gd name="adj" fmla="val 25000"/>
            </a:avLst>
          </a:prstGeom>
          <a:solidFill>
            <a:srgbClr val="60A5FA">
              <a:alpha val="4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53675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文件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" y="5660136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</a:rPr>
              <a:t>+ conversation-log.txt 更新第六、第七次對話記錄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" y="5980176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4D0"/>
                </a:solidFill>
              </a:rPr>
              <a:t>+ PPT 簡報：Dashboard 模擬圖 + Slide 2 重設計 + emoji 修復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9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896112" cy="283464"/>
          </a:xfrm>
          <a:prstGeom prst="roundRect">
            <a:avLst>
              <a:gd name="adj" fmla="val 25806"/>
            </a:avLst>
          </a:prstGeom>
          <a:solidFill>
            <a:srgbClr val="60A5FA">
              <a:alpha val="3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896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路線圖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594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下一步計劃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" y="1325880"/>
            <a:ext cx="4069080" cy="3547872"/>
          </a:xfrm>
          <a:prstGeom prst="roundRect">
            <a:avLst>
              <a:gd name="adj" fmla="val 3093"/>
            </a:avLst>
          </a:prstGeom>
          <a:solidFill>
            <a:srgbClr val="1B2236"/>
          </a:solidFill>
          <a:ln w="12700">
            <a:solidFill>
              <a:srgbClr val="EAB308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4447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B308"/>
                </a:solidFill>
              </a:rPr>
              <a:t>待完成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920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  prisma db push + 驗證 /health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23957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  ECS 生產環境部署（install-linux.sh）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87121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D0"/>
                </a:solidFill>
              </a:rPr>
              <a:t>o  帳單 API 驗證 + billing 圖表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334670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D0"/>
                </a:solidFill>
              </a:rPr>
              <a:t>o  ENCRYPTION_KEY 獨立配置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38221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D0"/>
                </a:solidFill>
              </a:rPr>
              <a:t>o  cloudAccounts.js 死碼清理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4297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D0"/>
                </a:solidFill>
              </a:rPr>
              <a:t>o  騰訊雲 SecretKey 輪換（CAM）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27448" y="1325880"/>
            <a:ext cx="4069080" cy="3547872"/>
          </a:xfrm>
          <a:prstGeom prst="roundRect">
            <a:avLst>
              <a:gd name="adj" fmla="val 3093"/>
            </a:avLst>
          </a:prstGeom>
          <a:solidFill>
            <a:srgbClr val="1B2236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10328" y="14447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功能擴充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1920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D0"/>
                </a:solidFill>
              </a:rPr>
              <a:t>+ 更多阿里雲帳號接入（增加子帳號）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10328" y="23957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D0"/>
                </a:solidFill>
              </a:rPr>
              <a:t>+ 費用走勢圖（按月彙整）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10328" y="287121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D0"/>
                </a:solidFill>
              </a:rPr>
              <a:t>+ Email / Webhook 到期通知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10328" y="334670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D0"/>
                </a:solidFill>
              </a:rPr>
              <a:t>+ 多用戶管理（RBAC Admin/Viewer）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10328" y="38221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D0"/>
                </a:solidFill>
              </a:rPr>
              <a:t>+ 移動端 RWD 優化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10328" y="4297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4D0"/>
                </a:solidFill>
              </a:rPr>
              <a:t>+ 資源利用率監控（CPU/Memory）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4048" y="4663440"/>
            <a:ext cx="8412480" cy="301752"/>
          </a:xfrm>
          <a:prstGeom prst="roundRect">
            <a:avLst>
              <a:gd name="adj" fmla="val 36364"/>
            </a:avLst>
          </a:prstGeom>
          <a:solidFill>
            <a:srgbClr val="0D1625"/>
          </a:solidFill>
          <a:ln w="12700">
            <a:solidFill>
              <a:srgbClr val="00C8F0"/>
            </a:solidFill>
            <a:prstDash val="solid"/>
          </a:ln>
          <a:effectLst>
            <a:outerShdw sx="100000" sy="100000" kx="0" ky="0" algn="bl" rotWithShape="0" blurRad="177800" dist="38100" dir="27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" y="4681728"/>
            <a:ext cx="8229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8F0"/>
                </a:solidFill>
              </a:rPr>
              <a:t>目標：打造最輕量的多雲私有控制台，讓帳號管理一目了然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多雲帳號管理平台 — 專案綱要</dc:title>
  <dc:subject>PptxGenJS Presentation</dc:subject>
  <dc:creator>PptxGenJS</dc:creator>
  <cp:lastModifiedBy>PptxGenJS</cp:lastModifiedBy>
  <cp:revision>1</cp:revision>
  <dcterms:created xsi:type="dcterms:W3CDTF">2026-06-26T06:41:56Z</dcterms:created>
  <dcterms:modified xsi:type="dcterms:W3CDTF">2026-06-26T06:41:56Z</dcterms:modified>
</cp:coreProperties>
</file>